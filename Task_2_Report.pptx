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3D5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56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76C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503022</c:v>
                </c:pt>
                <c:pt idx="1">
                  <c:v>518752</c:v>
                </c:pt>
                <c:pt idx="2">
                  <c:v>504879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3D56A6"/>
            </a:solidFill>
            <a:ln w="31750" cap="flat">
              <a:solidFill>
                <a:srgbClr val="3D56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56A6"/>
              </a:solidFill>
              <a:ln w="9525" cap="flat">
                <a:solidFill>
                  <a:srgbClr val="3D56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22Q1</c:v>
                  </c:pt>
                  <c:pt idx="1">
                    <c:v>22Q2</c:v>
                  </c:pt>
                  <c:pt idx="2">
                    <c:v>22Q3</c:v>
                  </c:pt>
                  <c:pt idx="3">
                    <c:v>22Q4</c:v>
                  </c:pt>
                  <c:pt idx="4">
                    <c:v>23Q1</c:v>
                  </c:pt>
                  <c:pt idx="5">
                    <c:v>23Q2</c:v>
                  </c:pt>
                  <c:pt idx="6">
                    <c:v>23Q3</c:v>
                  </c:pt>
                  <c:pt idx="7">
                    <c:v>23Q4</c:v>
                  </c:pt>
                  <c:pt idx="8">
                    <c:v>24Q1</c:v>
                  </c:pt>
                  <c:pt idx="9">
                    <c:v>24Q2</c:v>
                  </c:pt>
                  <c:pt idx="10">
                    <c:v>24Q3</c:v>
                  </c:pt>
                  <c:pt idx="11">
                    <c:v>24Q4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121530</c:v>
                </c:pt>
                <c:pt idx="1">
                  <c:v>119058</c:v>
                </c:pt>
                <c:pt idx="2">
                  <c:v>140398</c:v>
                </c:pt>
                <c:pt idx="3">
                  <c:v>122035</c:v>
                </c:pt>
                <c:pt idx="4">
                  <c:v>129579</c:v>
                </c:pt>
                <c:pt idx="5">
                  <c:v>131339</c:v>
                </c:pt>
                <c:pt idx="6">
                  <c:v>127513</c:v>
                </c:pt>
                <c:pt idx="7">
                  <c:v>130319</c:v>
                </c:pt>
                <c:pt idx="8">
                  <c:v>131034</c:v>
                </c:pt>
                <c:pt idx="9">
                  <c:v>131390</c:v>
                </c:pt>
                <c:pt idx="10">
                  <c:v>124401</c:v>
                </c:pt>
                <c:pt idx="11">
                  <c:v>118053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B4A"/>
                </a:solidFill>
                <a:latin typeface="Arial"/>
              </a:rPr>
              <a:t>Elbow Method — Inertia vs 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3D56A6"/>
            </a:solidFill>
            <a:ln w="31750" cap="flat">
              <a:solidFill>
                <a:srgbClr val="3D56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56A6"/>
              </a:solidFill>
              <a:ln w="9525" cap="flat">
                <a:solidFill>
                  <a:srgbClr val="3D56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1692.6</c:v>
                </c:pt>
                <c:pt idx="1">
                  <c:v>1152.5</c:v>
                </c:pt>
                <c:pt idx="2">
                  <c:v>934.8</c:v>
                </c:pt>
                <c:pt idx="3">
                  <c:v>814.7</c:v>
                </c:pt>
                <c:pt idx="4">
                  <c:v>721.7</c:v>
                </c:pt>
                <c:pt idx="5">
                  <c:v>653.9</c:v>
                </c:pt>
                <c:pt idx="6">
                  <c:v>592.8</c:v>
                </c:pt>
                <c:pt idx="7">
                  <c:v>544.4</c:v>
                </c:pt>
                <c:pt idx="8">
                  <c:v>501.8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4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B4A"/>
                </a:solidFill>
                <a:latin typeface="Arial"/>
              </a:rPr>
              <a:t>Silhouette Score vs 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0.364</c:v>
                </c:pt>
                <c:pt idx="1">
                  <c:v>0.358</c:v>
                </c:pt>
                <c:pt idx="2">
                  <c:v>0.305</c:v>
                </c:pt>
                <c:pt idx="3">
                  <c:v>0.302</c:v>
                </c:pt>
                <c:pt idx="4">
                  <c:v>0.293</c:v>
                </c:pt>
                <c:pt idx="5">
                  <c:v>0.279</c:v>
                </c:pt>
                <c:pt idx="6">
                  <c:v>0.283</c:v>
                </c:pt>
                <c:pt idx="7">
                  <c:v>0.276</c:v>
                </c:pt>
                <c:pt idx="8">
                  <c:v>0.284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3D5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56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5C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Cluster 0
(High Value)</c:v>
                  </c:pt>
                  <c:pt idx="1">
                    <c:v>Cluster 2
(Mid Tier)</c:v>
                  </c:pt>
                  <c:pt idx="2">
                    <c:v>Cluster 1
(At Risk)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29.75</c:v>
                </c:pt>
                <c:pt idx="2">
                  <c:v>26.33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D8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3D5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B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D56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5C5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Cluster 0 – High Value</c:v>
                  </c:pt>
                  <c:pt idx="1">
                    <c:v>Cluster 2 – Mid Tier</c:v>
                  </c:pt>
                  <c:pt idx="2">
                    <c:v>Cluster 1 – At Risk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795921</c:v>
                </c:pt>
                <c:pt idx="1">
                  <c:v>557516</c:v>
                </c:pt>
                <c:pt idx="2">
                  <c:v>173216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B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8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 2 – Mid Tier</c:v>
                </c:pt>
              </c:strCache>
            </c:strRef>
          </c:tx>
          <c:spPr>
            <a:solidFill>
              <a:srgbClr val="3D56A6"/>
            </a:solidFill>
            <a:ln w="25400" cap="flat">
              <a:solidFill>
                <a:srgbClr val="3D56A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D56A6"/>
              </a:solidFill>
              <a:ln w="9525" cap="flat">
                <a:solidFill>
                  <a:srgbClr val="3D56A6"/>
                </a:solidFill>
                <a:prstDash val="solid"/>
                <a:round/>
              </a:ln>
              <a:effectLst/>
            </c:spPr>
          </c:marker>
          <c:xVal>
            <c:numRef>
              <c:f>Sheet1!$A$2:$A$41</c:f>
              <c:numCache>
                <c:formatCode>General</c:formatCode>
                <c:ptCount val="40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  <c:pt idx="5">
                  <c:v>[object Object]</c:v>
                </c:pt>
                <c:pt idx="6">
                  <c:v>[object Object]</c:v>
                </c:pt>
                <c:pt idx="7">
                  <c:v>[object Object]</c:v>
                </c:pt>
                <c:pt idx="8">
                  <c:v>[object Object]</c:v>
                </c:pt>
                <c:pt idx="9">
                  <c:v>[object Object]</c:v>
                </c:pt>
                <c:pt idx="10">
                  <c:v>[object Object]</c:v>
                </c:pt>
                <c:pt idx="11">
                  <c:v>[object Object]</c:v>
                </c:pt>
                <c:pt idx="12">
                  <c:v>[object Object]</c:v>
                </c:pt>
                <c:pt idx="13">
                  <c:v>[object Object]</c:v>
                </c:pt>
                <c:pt idx="14">
                  <c:v>[object Object]</c:v>
                </c:pt>
                <c:pt idx="15">
                  <c:v>[object Object]</c:v>
                </c:pt>
                <c:pt idx="16">
                  <c:v>[object Object]</c:v>
                </c:pt>
                <c:pt idx="17">
                  <c:v>[object Object]</c:v>
                </c:pt>
                <c:pt idx="18">
                  <c:v>[object Object]</c:v>
                </c:pt>
                <c:pt idx="19">
                  <c:v>[object Object]</c:v>
                </c:pt>
                <c:pt idx="20">
                  <c:v>[object Object]</c:v>
                </c:pt>
                <c:pt idx="21">
                  <c:v>[object Object]</c:v>
                </c:pt>
                <c:pt idx="22">
                  <c:v>[object Object]</c:v>
                </c:pt>
                <c:pt idx="23">
                  <c:v>[object Object]</c:v>
                </c:pt>
                <c:pt idx="24">
                  <c:v>[object Object]</c:v>
                </c:pt>
                <c:pt idx="25">
                  <c:v>[object Object]</c:v>
                </c:pt>
                <c:pt idx="26">
                  <c:v>[object Object]</c:v>
                </c:pt>
                <c:pt idx="27">
                  <c:v>[object Object]</c:v>
                </c:pt>
                <c:pt idx="28">
                  <c:v>[object Object]</c:v>
                </c:pt>
                <c:pt idx="29">
                  <c:v>[object Object]</c:v>
                </c:pt>
                <c:pt idx="30">
                  <c:v>[object Object]</c:v>
                </c:pt>
                <c:pt idx="31">
                  <c:v>[object Object]</c:v>
                </c:pt>
                <c:pt idx="32">
                  <c:v>[object Object]</c:v>
                </c:pt>
                <c:pt idx="33">
                  <c:v>[object Object]</c:v>
                </c:pt>
                <c:pt idx="34">
                  <c:v>[object Object]</c:v>
                </c:pt>
                <c:pt idx="35">
                  <c:v>[object Object]</c:v>
                </c:pt>
                <c:pt idx="36">
                  <c:v>[object Object]</c:v>
                </c:pt>
                <c:pt idx="37">
                  <c:v>[object Object]</c:v>
                </c:pt>
                <c:pt idx="38">
                  <c:v>[object Object]</c:v>
                </c:pt>
                <c:pt idx="39">
                  <c:v>[object Object]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  <c:pt idx="5">
                  <c:v>[object Object]</c:v>
                </c:pt>
                <c:pt idx="6">
                  <c:v>[object Object]</c:v>
                </c:pt>
                <c:pt idx="7">
                  <c:v>[object Object]</c:v>
                </c:pt>
                <c:pt idx="8">
                  <c:v>[object Object]</c:v>
                </c:pt>
                <c:pt idx="9">
                  <c:v>[object Object]</c:v>
                </c:pt>
                <c:pt idx="10">
                  <c:v>[object Object]</c:v>
                </c:pt>
                <c:pt idx="11">
                  <c:v>[object Object]</c:v>
                </c:pt>
                <c:pt idx="12">
                  <c:v>[object Object]</c:v>
                </c:pt>
                <c:pt idx="13">
                  <c:v>[object Object]</c:v>
                </c:pt>
                <c:pt idx="14">
                  <c:v>[object Object]</c:v>
                </c:pt>
                <c:pt idx="15">
                  <c:v>[object Object]</c:v>
                </c:pt>
                <c:pt idx="16">
                  <c:v>[object Object]</c:v>
                </c:pt>
                <c:pt idx="17">
                  <c:v>[object Object]</c:v>
                </c:pt>
                <c:pt idx="18">
                  <c:v>[object Object]</c:v>
                </c:pt>
                <c:pt idx="19">
                  <c:v>[object Object]</c:v>
                </c:pt>
                <c:pt idx="20">
                  <c:v>[object Object]</c:v>
                </c:pt>
                <c:pt idx="21">
                  <c:v>[object Object]</c:v>
                </c:pt>
                <c:pt idx="22">
                  <c:v>[object Object]</c:v>
                </c:pt>
                <c:pt idx="23">
                  <c:v>[object Object]</c:v>
                </c:pt>
                <c:pt idx="24">
                  <c:v>[object Object]</c:v>
                </c:pt>
                <c:pt idx="25">
                  <c:v>[object Object]</c:v>
                </c:pt>
                <c:pt idx="26">
                  <c:v>[object Object]</c:v>
                </c:pt>
                <c:pt idx="27">
                  <c:v>[object Object]</c:v>
                </c:pt>
                <c:pt idx="28">
                  <c:v>[object Object]</c:v>
                </c:pt>
                <c:pt idx="29">
                  <c:v>[object Object]</c:v>
                </c:pt>
                <c:pt idx="30">
                  <c:v>[object Object]</c:v>
                </c:pt>
                <c:pt idx="31">
                  <c:v>[object Object]</c:v>
                </c:pt>
                <c:pt idx="32">
                  <c:v>[object Object]</c:v>
                </c:pt>
                <c:pt idx="33">
                  <c:v>[object Object]</c:v>
                </c:pt>
                <c:pt idx="34">
                  <c:v>[object Object]</c:v>
                </c:pt>
                <c:pt idx="35">
                  <c:v>[object Object]</c:v>
                </c:pt>
                <c:pt idx="36">
                  <c:v>[object Object]</c:v>
                </c:pt>
                <c:pt idx="37">
                  <c:v>[object Object]</c:v>
                </c:pt>
                <c:pt idx="38">
                  <c:v>[object Object]</c:v>
                </c:pt>
                <c:pt idx="39">
                  <c:v>[object Object]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Cluster 1 – At Risk</c:v>
                </c:pt>
              </c:strCache>
            </c:strRef>
          </c:tx>
          <c:spPr>
            <a:solidFill>
              <a:srgbClr val="2A9D8F"/>
            </a:solidFill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xVal>
            <c:numRef>
              <c:f>Sheet1!$A$2:$A$41</c:f>
              <c:numCache>
                <c:formatCode>General</c:formatCode>
                <c:ptCount val="40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  <c:pt idx="5">
                  <c:v>[object Object]</c:v>
                </c:pt>
                <c:pt idx="6">
                  <c:v>[object Object]</c:v>
                </c:pt>
                <c:pt idx="7">
                  <c:v>[object Object]</c:v>
                </c:pt>
                <c:pt idx="8">
                  <c:v>[object Object]</c:v>
                </c:pt>
                <c:pt idx="9">
                  <c:v>[object Object]</c:v>
                </c:pt>
                <c:pt idx="10">
                  <c:v>[object Object]</c:v>
                </c:pt>
                <c:pt idx="11">
                  <c:v>[object Object]</c:v>
                </c:pt>
                <c:pt idx="12">
                  <c:v>[object Object]</c:v>
                </c:pt>
                <c:pt idx="13">
                  <c:v>[object Object]</c:v>
                </c:pt>
                <c:pt idx="14">
                  <c:v>[object Object]</c:v>
                </c:pt>
                <c:pt idx="15">
                  <c:v>[object Object]</c:v>
                </c:pt>
                <c:pt idx="16">
                  <c:v>[object Object]</c:v>
                </c:pt>
                <c:pt idx="17">
                  <c:v>[object Object]</c:v>
                </c:pt>
                <c:pt idx="18">
                  <c:v>[object Object]</c:v>
                </c:pt>
                <c:pt idx="19">
                  <c:v>[object Object]</c:v>
                </c:pt>
                <c:pt idx="20">
                  <c:v>[object Object]</c:v>
                </c:pt>
                <c:pt idx="21">
                  <c:v>[object Object]</c:v>
                </c:pt>
                <c:pt idx="22">
                  <c:v>[object Object]</c:v>
                </c:pt>
                <c:pt idx="23">
                  <c:v>[object Object]</c:v>
                </c:pt>
                <c:pt idx="24">
                  <c:v>[object Object]</c:v>
                </c:pt>
                <c:pt idx="25">
                  <c:v>[object Object]</c:v>
                </c:pt>
                <c:pt idx="26">
                  <c:v>[object Object]</c:v>
                </c:pt>
                <c:pt idx="27">
                  <c:v>[object Object]</c:v>
                </c:pt>
                <c:pt idx="28">
                  <c:v>[object Object]</c:v>
                </c:pt>
                <c:pt idx="29">
                  <c:v>[object Object]</c:v>
                </c:pt>
                <c:pt idx="30">
                  <c:v>[object Object]</c:v>
                </c:pt>
                <c:pt idx="31">
                  <c:v>[object Object]</c:v>
                </c:pt>
                <c:pt idx="32">
                  <c:v>[object Object]</c:v>
                </c:pt>
                <c:pt idx="33">
                  <c:v>[object Object]</c:v>
                </c:pt>
                <c:pt idx="34">
                  <c:v>[object Object]</c:v>
                </c:pt>
                <c:pt idx="35">
                  <c:v>[object Object]</c:v>
                </c:pt>
                <c:pt idx="36">
                  <c:v>[object Object]</c:v>
                </c:pt>
                <c:pt idx="37">
                  <c:v>[object Object]</c:v>
                </c:pt>
                <c:pt idx="38">
                  <c:v>[object Object]</c:v>
                </c:pt>
                <c:pt idx="39">
                  <c:v>[object Object]</c:v>
                </c:pt>
              </c:numCache>
            </c:numRef>
          </c:xVal>
          <c:yVal>
            <c:numRef>
              <c:f>Sheet1!$C$2:$C$41</c:f>
              <c:numCache>
                <c:formatCode>General</c:formatCode>
                <c:ptCount val="40"/>
                <c:pt idx="0">
                  <c:v>[object Object]</c:v>
                </c:pt>
                <c:pt idx="1">
                  <c:v>[object Object]</c:v>
                </c:pt>
                <c:pt idx="2">
                  <c:v>[object Object]</c:v>
                </c:pt>
                <c:pt idx="3">
                  <c:v>[object Object]</c:v>
                </c:pt>
                <c:pt idx="4">
                  <c:v>[object Object]</c:v>
                </c:pt>
                <c:pt idx="5">
                  <c:v>[object Object]</c:v>
                </c:pt>
                <c:pt idx="6">
                  <c:v>[object Object]</c:v>
                </c:pt>
                <c:pt idx="7">
                  <c:v>[object Object]</c:v>
                </c:pt>
                <c:pt idx="8">
                  <c:v>[object Object]</c:v>
                </c:pt>
                <c:pt idx="9">
                  <c:v>[object Object]</c:v>
                </c:pt>
                <c:pt idx="10">
                  <c:v>[object Object]</c:v>
                </c:pt>
                <c:pt idx="11">
                  <c:v>[object Object]</c:v>
                </c:pt>
                <c:pt idx="12">
                  <c:v>[object Object]</c:v>
                </c:pt>
                <c:pt idx="13">
                  <c:v>[object Object]</c:v>
                </c:pt>
                <c:pt idx="14">
                  <c:v>[object Object]</c:v>
                </c:pt>
                <c:pt idx="15">
                  <c:v>[object Object]</c:v>
                </c:pt>
                <c:pt idx="16">
                  <c:v>[object Object]</c:v>
                </c:pt>
                <c:pt idx="17">
                  <c:v>[object Object]</c:v>
                </c:pt>
                <c:pt idx="18">
                  <c:v>[object Object]</c:v>
                </c:pt>
                <c:pt idx="19">
                  <c:v>[object Object]</c:v>
                </c:pt>
                <c:pt idx="20">
                  <c:v>[object Object]</c:v>
                </c:pt>
                <c:pt idx="21">
                  <c:v>[object Object]</c:v>
                </c:pt>
                <c:pt idx="22">
                  <c:v>[object Object]</c:v>
                </c:pt>
                <c:pt idx="23">
                  <c:v>[object Object]</c:v>
                </c:pt>
                <c:pt idx="24">
                  <c:v>[object Object]</c:v>
                </c:pt>
                <c:pt idx="25">
                  <c:v>[object Object]</c:v>
                </c:pt>
                <c:pt idx="26">
                  <c:v>[object Object]</c:v>
                </c:pt>
                <c:pt idx="27">
                  <c:v>[object Object]</c:v>
                </c:pt>
                <c:pt idx="28">
                  <c:v>[object Object]</c:v>
                </c:pt>
                <c:pt idx="29">
                  <c:v>[object Object]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4"/>
          <c:min val="-4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4"/>
          <c:min val="-4"/>
        </c:scaling>
        <c:delete val="0"/>
        <c:axPos val="l"/>
        <c:majorGridlines>
          <c:spPr>
            <a:ln w="6350" cap="flat">
              <a:solidFill>
                <a:srgbClr val="D8DCE8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6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685800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29200"/>
            <a:ext cx="5303520" cy="457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1280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1920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2560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7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200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Task_2.ipynb  ·  Tools: Python · Pandas · Scikit-learn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5577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Analysis · KMeans Clustering · PCA · CLV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822960"/>
            <a:ext cx="6126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822960"/>
            <a:ext cx="6126480" cy="54864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52160" y="98755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989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1499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23560" y="2212848"/>
            <a:ext cx="6126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2212848"/>
            <a:ext cx="6126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52160" y="2377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28895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3602736"/>
            <a:ext cx="6126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3602736"/>
            <a:ext cx="6126480" cy="54864"/>
          </a:xfrm>
          <a:prstGeom prst="rect">
            <a:avLst/>
          </a:prstGeom>
          <a:solidFill>
            <a:srgbClr val="E9A8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852160" y="37673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₹305.33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4279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Value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4992624"/>
            <a:ext cx="6126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4992624"/>
            <a:ext cx="6126480" cy="54864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52160" y="515721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5669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 (2022–2024)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64922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Division  ·  FY 2022–2024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7472" y="9144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5577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" y="10058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15568" y="1042416"/>
            <a:ext cx="18288" cy="640080"/>
          </a:xfrm>
          <a:prstGeom prst="rect">
            <a:avLst/>
          </a:prstGeom>
          <a:solidFill>
            <a:srgbClr val="D8DC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61872" y="98755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35331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dtypes, shape, null check, duplicate check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002536"/>
            <a:ext cx="5577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" y="21671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15568" y="2203704"/>
            <a:ext cx="18288" cy="640080"/>
          </a:xfrm>
          <a:prstGeom prst="rect">
            <a:avLst/>
          </a:prstGeom>
          <a:solidFill>
            <a:srgbClr val="D8DC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61872" y="21488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514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purchase value, purchase frequency, yearly/quarterly/monthly sales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163824"/>
            <a:ext cx="5577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" y="33284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15568" y="3364992"/>
            <a:ext cx="18288" cy="640080"/>
          </a:xfrm>
          <a:prstGeom prst="rect">
            <a:avLst/>
          </a:prstGeom>
          <a:solidFill>
            <a:srgbClr val="D8DC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61872" y="331012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– RFM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67588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Recency, Frequency, Monetary computation per customer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4325112"/>
            <a:ext cx="5577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" y="448970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115568" y="4526280"/>
            <a:ext cx="18288" cy="640080"/>
          </a:xfrm>
          <a:prstGeom prst="rect">
            <a:avLst/>
          </a:prstGeom>
          <a:solidFill>
            <a:srgbClr val="D8DC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261872" y="44714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(CLV)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48371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CLV, Annual CLV, CLV with margin, CLV:CAC ratio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5486400"/>
            <a:ext cx="5577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" y="56509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115568" y="5687568"/>
            <a:ext cx="18288" cy="640080"/>
          </a:xfrm>
          <a:prstGeom prst="rect">
            <a:avLst/>
          </a:prstGeom>
          <a:solidFill>
            <a:srgbClr val="D8DCE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261872" y="563270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Normalisation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261872" y="59984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RFM features; histogram distribution check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3640" y="841248"/>
            <a:ext cx="5577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9088" y="10058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059168" y="1042416"/>
            <a:ext cx="18288" cy="640080"/>
          </a:xfrm>
          <a:prstGeom prst="rect">
            <a:avLst/>
          </a:prstGeom>
          <a:solidFill>
            <a:srgbClr val="D8DC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05472" y="98755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205472" y="135331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optimal clusters; Silhouette Score = 0.358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2002536"/>
            <a:ext cx="5577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19088" y="21671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059168" y="2203704"/>
            <a:ext cx="18288" cy="640080"/>
          </a:xfrm>
          <a:prstGeom prst="rect">
            <a:avLst/>
          </a:prstGeom>
          <a:solidFill>
            <a:srgbClr val="D8DCE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205472" y="21488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Evaluation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205472" y="2514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+ Silhouette across k=2–10; optimal k selection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63640" y="3163824"/>
            <a:ext cx="5577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19088" y="33284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059168" y="3364992"/>
            <a:ext cx="18288" cy="640080"/>
          </a:xfrm>
          <a:prstGeom prst="rect">
            <a:avLst/>
          </a:prstGeom>
          <a:solidFill>
            <a:srgbClr val="D8DCE8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205472" y="331012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Profiling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205472" y="367588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summary per cluster; revenue, churn, top category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4325112"/>
            <a:ext cx="5577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19088" y="448970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7059168" y="4526280"/>
            <a:ext cx="18288" cy="640080"/>
          </a:xfrm>
          <a:prstGeom prst="rect">
            <a:avLst/>
          </a:prstGeom>
          <a:solidFill>
            <a:srgbClr val="D8DCE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205472" y="4471416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Visualisation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7205472" y="48371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2-Component PCA – 90.6% variance explained; customer scatter plot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63640" y="5486400"/>
            <a:ext cx="55778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19088" y="565099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059168" y="5687568"/>
            <a:ext cx="18288" cy="640080"/>
          </a:xfrm>
          <a:prstGeom prst="rect">
            <a:avLst/>
          </a:prstGeom>
          <a:solidFill>
            <a:srgbClr val="D8DCE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205472" y="563270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Strategy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205472" y="59984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Segment-wise marketing recommendations &amp; analytics roadmap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7472" y="9144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DATASET OVERVIEW &amp; INITIAL INSPECTION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54864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804672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804672"/>
            <a:ext cx="27432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47288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804672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8776" y="804672"/>
            <a:ext cx="2743200" cy="54864"/>
          </a:xfrm>
          <a:prstGeom prst="rect">
            <a:avLst/>
          </a:prstGeom>
          <a:solidFill>
            <a:srgbClr val="E9A8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91656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989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391656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53144" y="804672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53144" y="804672"/>
            <a:ext cx="2743200" cy="54864"/>
          </a:xfrm>
          <a:prstGeom prst="rect">
            <a:avLst/>
          </a:prstGeom>
          <a:solidFill>
            <a:srgbClr val="3DB87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36024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336024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286000"/>
            <a:ext cx="4114800" cy="2743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9768" y="23042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SCHEMA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606040"/>
            <a:ext cx="11521440" cy="347472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2651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26517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990088"/>
            <a:ext cx="11521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3081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0" y="3081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3081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 identifier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465576"/>
            <a:ext cx="11521440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3557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Date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0" y="35570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→ datetime64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5570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 (2022–2024)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941064"/>
            <a:ext cx="11521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4032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 Amount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0" y="40325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0" y="40325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transaction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416552"/>
            <a:ext cx="11521440" cy="438912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4507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3657600" y="4507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0" y="4507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/ Clothing / Home etc.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0040" y="4892040"/>
            <a:ext cx="11521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4983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3657600" y="4983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 (0/1)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0" y="4983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flag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" y="5458968"/>
            <a:ext cx="3657600" cy="274320"/>
          </a:xfrm>
          <a:prstGeom prst="rect">
            <a:avLst/>
          </a:prstGeom>
          <a:solidFill>
            <a:srgbClr val="3DB87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29768" y="54772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 SUMMARY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5779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null values across all columns — dataset is complete and ready for analysis.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0899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duplicate rows — every Transaction ID is unique.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4008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Purchase Date converted from str → datetime64 for time-series resampling.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7472" y="9144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DESCRIPTIVE STATISTICS &amp; SALES TRENDS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2834640" cy="54864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₹305.33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Value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7739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per transaction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37560" y="804672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804672"/>
            <a:ext cx="283464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44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5.06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7739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customer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55080" y="804672"/>
            <a:ext cx="28346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804672"/>
            <a:ext cx="2834640" cy="54864"/>
          </a:xfrm>
          <a:prstGeom prst="rect">
            <a:avLst/>
          </a:prstGeom>
          <a:solidFill>
            <a:srgbClr val="E9A8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1005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₹15,26,654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1517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(3 Yr)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17739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2022+2023+2024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372600" y="804672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72600" y="804672"/>
            <a:ext cx="2468880" cy="54864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55480" y="1005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989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555480" y="15179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17739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≥1 purchase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286000"/>
            <a:ext cx="4114800" cy="2743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9768" y="23042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SALES TREND</a:t>
            </a:r>
            <a:endParaRPr lang="en-US" sz="9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320040" y="260604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5623560" y="2286000"/>
            <a:ext cx="6492240" cy="2743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733288" y="2304288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SALES TREND</a:t>
            </a:r>
            <a:endParaRPr lang="en-US" sz="900" dirty="0"/>
          </a:p>
        </p:txBody>
      </p:sp>
      <p:graphicFrame>
        <p:nvGraphicFramePr>
          <p:cNvPr id="30" name="Chart 1" descr=""/>
          <p:cNvGraphicFramePr/>
          <p:nvPr/>
        </p:nvGraphicFramePr>
        <p:xfrm>
          <a:off x="5623560" y="2606040"/>
          <a:ext cx="62179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Text 27"/>
          <p:cNvSpPr txBox="1"/>
          <p:nvPr/>
        </p:nvSpPr>
        <p:spPr>
          <a:xfrm>
            <a:off x="320040" y="603504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Q3 2022 was peak quarter (₹1,40,398). Revenue is stable across 3 years with ±4% variance — indicating a mature customer base.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7472" y="9144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FEATURE ENGINEERING — RFM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3657600" cy="475488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82296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877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" y="1408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84632" y="16733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" y="20482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" y="23042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Date – Last Purchase Date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" y="2688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" y="2944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more engaged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" y="3337560"/>
            <a:ext cx="3337560" cy="65836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" y="34015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Average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217.5 days avg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51960" y="804672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804672"/>
            <a:ext cx="3657600" cy="475488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34840" y="82296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877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416552" y="1408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416552" y="16733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purchases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416552" y="20482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416552" y="23042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per Customer ID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416552" y="2688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416552" y="2944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more loyal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16552" y="3337560"/>
            <a:ext cx="3337560" cy="65836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44568" y="34015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Average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544568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5.06 orders avg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83880" y="804672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804672"/>
            <a:ext cx="3657600" cy="47548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66760" y="822960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9006840" y="877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348472" y="1408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348472" y="16733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per customer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348472" y="20482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348472" y="23042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Total Purchase Amount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348472" y="26883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8348472" y="2944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more valuable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48472" y="3337560"/>
            <a:ext cx="3337560" cy="65836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76488" y="34015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Average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476488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₹1,543.63 avg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0040" y="4434840"/>
            <a:ext cx="4572000" cy="2743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29768" y="445312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DESCRIPTIVE STATISTICS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4754880"/>
            <a:ext cx="11521440" cy="347472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5720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320040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(days)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94360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(orders)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8686800" y="4800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(₹)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5138928"/>
            <a:ext cx="11521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57200" y="5184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3200400" y="5184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217.54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0" y="5184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5.06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8686800" y="5184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1,543.63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5449824"/>
            <a:ext cx="11521440" cy="283464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57200" y="54955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3200400" y="54955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202.39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5943600" y="54955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2.33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8686800" y="54955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959.49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5760720"/>
            <a:ext cx="11521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7200" y="5806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3200400" y="5806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5943600" y="5806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8686800" y="5806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0040" y="6071616"/>
            <a:ext cx="11521440" cy="283464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57200" y="61173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(50%)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3200400" y="61173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5943600" y="61173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8686800" y="6117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1,398.52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20040" y="6382512"/>
            <a:ext cx="1152144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57200" y="64282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3200400" y="64282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1,032</a:t>
            </a:r>
            <a:endParaRPr lang="en-US" sz="1000" dirty="0"/>
          </a:p>
        </p:txBody>
      </p:sp>
      <p:sp>
        <p:nvSpPr>
          <p:cNvPr id="74" name="Text 72"/>
          <p:cNvSpPr txBox="1"/>
          <p:nvPr/>
        </p:nvSpPr>
        <p:spPr>
          <a:xfrm>
            <a:off x="5943600" y="64282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>
            <a:off x="8686800" y="64282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6,103.73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7472" y="9144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CUSTOMER LIFETIME VALUE (CLV)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1521440" cy="1261872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877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Formula Used: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17043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 =  Avg Purchase Value  ×  Purchase Frequency  ×  Customer Lifespan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5727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Applied: 30%   |   CAC (assumed): ₹1,000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240280"/>
            <a:ext cx="3566160" cy="54864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24414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₹305.33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953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Value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2095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df["Total Purchase Amount"].mean()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0" y="224028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2240280"/>
            <a:ext cx="356616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97680" y="24414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5.06×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953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2095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/ Unique customers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863840" y="224028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2240280"/>
            <a:ext cx="3977640" cy="54864"/>
          </a:xfrm>
          <a:prstGeom prst="rect">
            <a:avLst/>
          </a:prstGeom>
          <a:solidFill>
            <a:srgbClr val="E9A8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0" y="244144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1.83 yrs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295351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Customer Lifespan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32095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first_purchase → last_purchase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794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794760"/>
            <a:ext cx="2743200" cy="54864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2920" y="3913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₹2,825.06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CLV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736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avg_value × frequency × lifespan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73552" y="3794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73552" y="3794760"/>
            <a:ext cx="27432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56432" y="3913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₹514.90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3456432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CLV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456432" y="4736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avg_value × annualized frequency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27064" y="3794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27064" y="3794760"/>
            <a:ext cx="2743200" cy="54864"/>
          </a:xfrm>
          <a:prstGeom prst="rect">
            <a:avLst/>
          </a:prstGeom>
          <a:solidFill>
            <a:srgbClr val="3DB87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9944" y="3913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₹847.52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6409944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(with 30% margin)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409944" y="4736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CLV × 0.30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180576" y="379476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80576" y="3794760"/>
            <a:ext cx="2743200" cy="54864"/>
          </a:xfrm>
          <a:prstGeom prst="rect">
            <a:avLst/>
          </a:prstGeom>
          <a:solidFill>
            <a:srgbClr val="E9A83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63456" y="3913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2.83 : 1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9363456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: CAC Ratio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9363456" y="47365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(₹2,825) / CAC (₹1,000)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0040" y="5394960"/>
            <a:ext cx="11521440" cy="1280160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" y="5468112"/>
            <a:ext cx="3657600" cy="2743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12648" y="548640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852160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67512" y="58064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CLV:CAC = 2.83 is below the recommended benchmark of 3:1 — acquisition costs need review.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02920" y="6126480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67512" y="6080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CLV (₹514.90) × avg 1.83-year lifespan confirms the overall CLV is realistic.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" y="6400800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67512" y="6355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gross margin or purchase frequency are the two highest-leverage levers to improve CLV.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7472" y="9144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05–06  ·  DATA NORMALISATION  &amp;  KMEANS CLUSTERING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5394960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96112"/>
            <a:ext cx="4754880" cy="2743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12648" y="914400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– NORMALISATION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2618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normalise RFM before clustering?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73352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" y="162763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ranges 0–1,032 days; Monetary ranges ₹50–₹6,103 — wildly different scales.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093976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04825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uses Euclidean distance: unscaled Monetary would dominate all clustering.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" y="2468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converts each feature to mean=0, std=1 — equal weight in distance calc.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926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Formula: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246120"/>
            <a:ext cx="4846320" cy="530352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3649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(x – mean) / std_dev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931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Feature Stats (approximate):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251960"/>
            <a:ext cx="4846320" cy="384048"/>
          </a:xfrm>
          <a:prstGeom prst="rect">
            <a:avLst/>
          </a:prstGeom>
          <a:solidFill>
            <a:srgbClr val="3D56A6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343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4343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(scaled)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43434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(scaled)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4846320" cy="38404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754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Recency_scaled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68880" y="4754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0.0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4754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5074920"/>
            <a:ext cx="4846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5166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Frequency_scaled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2468880" y="5166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0.0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3840480" y="51663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486400"/>
            <a:ext cx="4846320" cy="38404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5577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Monetary_scaled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2468880" y="5577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0.0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3840480" y="5577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1.0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108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989 customers × 3 scaled features → fed into KMeans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89320" y="804672"/>
            <a:ext cx="5852160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896112"/>
            <a:ext cx="5212080" cy="2743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81928" y="91440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 — k = 3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172200" y="1280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Settings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1609344"/>
            <a:ext cx="5303520" cy="347472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09360" y="16733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9144000" y="16733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(optimal)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72200" y="1993392"/>
            <a:ext cx="5303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09360" y="2057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20574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72200" y="2377440"/>
            <a:ext cx="5303520" cy="347472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09360" y="2441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n_init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0" y="2441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72200" y="2761488"/>
            <a:ext cx="53035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09360" y="28254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144000" y="28254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 (default)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72200" y="3273552"/>
            <a:ext cx="5303520" cy="1005840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0800" y="33649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6400800" y="36393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0.358</a:t>
            </a:r>
            <a:endParaRPr lang="en-US" sz="3200" dirty="0"/>
          </a:p>
        </p:txBody>
      </p:sp>
      <p:sp>
        <p:nvSpPr>
          <p:cNvPr id="55" name="Text 53"/>
          <p:cNvSpPr txBox="1"/>
          <p:nvPr/>
        </p:nvSpPr>
        <p:spPr>
          <a:xfrm>
            <a:off x="8778240" y="34747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3 well-separated clusters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–1 (poor) to +1 (perfect)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6172200" y="4434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KMeans Works: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72200" y="4773168"/>
            <a:ext cx="219456" cy="219456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172200" y="4773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6473952" y="4773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initialise 3 cluster centroids in scaled RFM space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172200" y="5175504"/>
            <a:ext cx="219456" cy="219456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172200" y="51755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473952" y="51755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customer to nearest centroid (Euclidean distance)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72200" y="5577840"/>
            <a:ext cx="219456" cy="219456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172200" y="5577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6473952" y="5577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centroids as mean of assigned points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72200" y="5980176"/>
            <a:ext cx="219456" cy="219456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172200" y="5980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6473952" y="59801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centroids stop moving (convergence)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7472" y="9144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CLUSTER EVALUATION — ELBOW METHOD &amp; SILHOUETTE SCORES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2296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63640" y="822960"/>
          <a:ext cx="55778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4800600"/>
            <a:ext cx="3657600" cy="2743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429768" y="4818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EVALUATION TABLE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20040" y="5120640"/>
            <a:ext cx="11521440" cy="329184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75488" y="5166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2286000" y="5166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5303520" y="5166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8229600" y="51663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0040" y="5486400"/>
            <a:ext cx="1152144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75488" y="550468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2286000" y="550468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1692.6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5303520" y="550468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0.364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8229600" y="5504688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20040" y="5650992"/>
            <a:ext cx="11521440" cy="155448"/>
          </a:xfrm>
          <a:prstGeom prst="rect">
            <a:avLst/>
          </a:prstGeom>
          <a:solidFill>
            <a:srgbClr val="EBF5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566928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2286000" y="566928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1152.5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5303520" y="566928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0.358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8229600" y="566928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OPTIMAL (chosen)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20040" y="5815584"/>
            <a:ext cx="1152144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75488" y="583387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2286000" y="583387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934.8</a:t>
            </a:r>
            <a:endParaRPr lang="en-US" sz="850" dirty="0"/>
          </a:p>
        </p:txBody>
      </p:sp>
      <p:sp>
        <p:nvSpPr>
          <p:cNvPr id="27" name="Text 23"/>
          <p:cNvSpPr txBox="1"/>
          <p:nvPr/>
        </p:nvSpPr>
        <p:spPr>
          <a:xfrm>
            <a:off x="5303520" y="583387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0.305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8229600" y="5833872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320040" y="5980176"/>
            <a:ext cx="11521440" cy="15544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75488" y="599846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31" name="Text 27"/>
          <p:cNvSpPr txBox="1"/>
          <p:nvPr/>
        </p:nvSpPr>
        <p:spPr>
          <a:xfrm>
            <a:off x="2286000" y="59984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814.7</a:t>
            </a:r>
            <a:endParaRPr lang="en-US" sz="850" dirty="0"/>
          </a:p>
        </p:txBody>
      </p:sp>
      <p:sp>
        <p:nvSpPr>
          <p:cNvPr id="32" name="Text 28"/>
          <p:cNvSpPr txBox="1"/>
          <p:nvPr/>
        </p:nvSpPr>
        <p:spPr>
          <a:xfrm>
            <a:off x="5303520" y="59984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0.302</a:t>
            </a:r>
            <a:endParaRPr lang="en-US" sz="850" dirty="0"/>
          </a:p>
        </p:txBody>
      </p:sp>
      <p:sp>
        <p:nvSpPr>
          <p:cNvPr id="33" name="Text 29"/>
          <p:cNvSpPr txBox="1"/>
          <p:nvPr/>
        </p:nvSpPr>
        <p:spPr>
          <a:xfrm>
            <a:off x="8229600" y="5998464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320040" y="6144768"/>
            <a:ext cx="1152144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75488" y="616305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36" name="Text 32"/>
          <p:cNvSpPr txBox="1"/>
          <p:nvPr/>
        </p:nvSpPr>
        <p:spPr>
          <a:xfrm>
            <a:off x="2286000" y="6163056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721.7</a:t>
            </a:r>
            <a:endParaRPr lang="en-US" sz="850" dirty="0"/>
          </a:p>
        </p:txBody>
      </p:sp>
      <p:sp>
        <p:nvSpPr>
          <p:cNvPr id="37" name="Text 33"/>
          <p:cNvSpPr txBox="1"/>
          <p:nvPr/>
        </p:nvSpPr>
        <p:spPr>
          <a:xfrm>
            <a:off x="5303520" y="6163056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0.293</a:t>
            </a:r>
            <a:endParaRPr lang="en-US" sz="850" dirty="0"/>
          </a:p>
        </p:txBody>
      </p:sp>
      <p:sp>
        <p:nvSpPr>
          <p:cNvPr id="38" name="Text 34"/>
          <p:cNvSpPr txBox="1"/>
          <p:nvPr/>
        </p:nvSpPr>
        <p:spPr>
          <a:xfrm>
            <a:off x="8229600" y="616305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9" name="Shape 35"/>
          <p:cNvSpPr/>
          <p:nvPr/>
        </p:nvSpPr>
        <p:spPr>
          <a:xfrm>
            <a:off x="320040" y="6309360"/>
            <a:ext cx="11521440" cy="15544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75488" y="632764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41" name="Text 37"/>
          <p:cNvSpPr txBox="1"/>
          <p:nvPr/>
        </p:nvSpPr>
        <p:spPr>
          <a:xfrm>
            <a:off x="2286000" y="632764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653.9</a:t>
            </a:r>
            <a:endParaRPr lang="en-US" sz="850" dirty="0"/>
          </a:p>
        </p:txBody>
      </p:sp>
      <p:sp>
        <p:nvSpPr>
          <p:cNvPr id="42" name="Text 38"/>
          <p:cNvSpPr txBox="1"/>
          <p:nvPr/>
        </p:nvSpPr>
        <p:spPr>
          <a:xfrm>
            <a:off x="5303520" y="632764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0.279</a:t>
            </a:r>
            <a:endParaRPr lang="en-US" sz="850" dirty="0"/>
          </a:p>
        </p:txBody>
      </p:sp>
      <p:sp>
        <p:nvSpPr>
          <p:cNvPr id="43" name="Text 39"/>
          <p:cNvSpPr txBox="1"/>
          <p:nvPr/>
        </p:nvSpPr>
        <p:spPr>
          <a:xfrm>
            <a:off x="8229600" y="6327648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20040" y="6473952"/>
            <a:ext cx="1152144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475488" y="649224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46" name="Text 42"/>
          <p:cNvSpPr txBox="1"/>
          <p:nvPr/>
        </p:nvSpPr>
        <p:spPr>
          <a:xfrm>
            <a:off x="2286000" y="649224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592.8</a:t>
            </a:r>
            <a:endParaRPr lang="en-US" sz="850" dirty="0"/>
          </a:p>
        </p:txBody>
      </p:sp>
      <p:sp>
        <p:nvSpPr>
          <p:cNvPr id="47" name="Text 43"/>
          <p:cNvSpPr txBox="1"/>
          <p:nvPr/>
        </p:nvSpPr>
        <p:spPr>
          <a:xfrm>
            <a:off x="5303520" y="6492240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0.283</a:t>
            </a:r>
            <a:endParaRPr lang="en-US" sz="850" dirty="0"/>
          </a:p>
        </p:txBody>
      </p:sp>
      <p:sp>
        <p:nvSpPr>
          <p:cNvPr id="48" name="Text 44"/>
          <p:cNvSpPr txBox="1"/>
          <p:nvPr/>
        </p:nvSpPr>
        <p:spPr>
          <a:xfrm>
            <a:off x="8229600" y="649224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320040" y="6638544"/>
            <a:ext cx="11521440" cy="15544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475488" y="665683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51" name="Text 47"/>
          <p:cNvSpPr txBox="1"/>
          <p:nvPr/>
        </p:nvSpPr>
        <p:spPr>
          <a:xfrm>
            <a:off x="2286000" y="665683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544.4</a:t>
            </a:r>
            <a:endParaRPr lang="en-US" sz="850" dirty="0"/>
          </a:p>
        </p:txBody>
      </p:sp>
      <p:sp>
        <p:nvSpPr>
          <p:cNvPr id="52" name="Text 48"/>
          <p:cNvSpPr txBox="1"/>
          <p:nvPr/>
        </p:nvSpPr>
        <p:spPr>
          <a:xfrm>
            <a:off x="5303520" y="665683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0.276</a:t>
            </a:r>
            <a:endParaRPr lang="en-US" sz="850" dirty="0"/>
          </a:p>
        </p:txBody>
      </p:sp>
      <p:sp>
        <p:nvSpPr>
          <p:cNvPr id="53" name="Text 49"/>
          <p:cNvSpPr txBox="1"/>
          <p:nvPr/>
        </p:nvSpPr>
        <p:spPr>
          <a:xfrm>
            <a:off x="8229600" y="6656832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320040" y="6803136"/>
            <a:ext cx="11521440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475488" y="682142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56" name="Text 52"/>
          <p:cNvSpPr txBox="1"/>
          <p:nvPr/>
        </p:nvSpPr>
        <p:spPr>
          <a:xfrm>
            <a:off x="2286000" y="682142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501.8</a:t>
            </a:r>
            <a:endParaRPr lang="en-US" sz="850" dirty="0"/>
          </a:p>
        </p:txBody>
      </p:sp>
      <p:sp>
        <p:nvSpPr>
          <p:cNvPr id="57" name="Text 53"/>
          <p:cNvSpPr txBox="1"/>
          <p:nvPr/>
        </p:nvSpPr>
        <p:spPr>
          <a:xfrm>
            <a:off x="5303520" y="682142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0.284</a:t>
            </a:r>
            <a:endParaRPr lang="en-US" sz="850" dirty="0"/>
          </a:p>
        </p:txBody>
      </p:sp>
      <p:sp>
        <p:nvSpPr>
          <p:cNvPr id="58" name="Text 54"/>
          <p:cNvSpPr txBox="1"/>
          <p:nvPr/>
        </p:nvSpPr>
        <p:spPr>
          <a:xfrm>
            <a:off x="8229600" y="6821424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7472" y="9144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CLUSTER PROFILING — BUSINESS SUMMARY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3749040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3749040" cy="475488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" y="822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822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Top Segment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84632" y="133502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LOYALISTS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" y="1810512"/>
            <a:ext cx="3529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496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(30.4%)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2322576"/>
            <a:ext cx="3529584" cy="47548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24140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₹7,95,921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" y="2834640"/>
            <a:ext cx="3529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52.1%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9768" y="3346704"/>
            <a:ext cx="3529584" cy="47548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34381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(65 days)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9768" y="3858768"/>
            <a:ext cx="3529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9496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Frequency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3950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orders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" y="4370832"/>
            <a:ext cx="3529584" cy="47548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9496" y="4462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Monetary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₹2,643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9768" y="4882896"/>
            <a:ext cx="3529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9496" y="4974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2331720" y="4974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9768" y="5394960"/>
            <a:ext cx="3529584" cy="47548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9496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2331720" y="5486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70248" y="804672"/>
            <a:ext cx="3749040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70248" y="804672"/>
            <a:ext cx="3749040" cy="47548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434840" y="822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733288" y="822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Growth Potential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434840" y="133502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REGULARS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79976" y="1810512"/>
            <a:ext cx="3529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89704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281928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 (48.6%)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79976" y="2322576"/>
            <a:ext cx="3529584" cy="47548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489704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281928" y="24140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₹5,57,516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379976" y="2834640"/>
            <a:ext cx="3529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89704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281928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379976" y="3346704"/>
            <a:ext cx="3529584" cy="47548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489704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6281928" y="34381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(156 days)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379976" y="3858768"/>
            <a:ext cx="3529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489704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Frequency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6281928" y="3950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orders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379976" y="4370832"/>
            <a:ext cx="3529584" cy="47548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489704" y="4462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Monetary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6281928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₹1,158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379976" y="4882896"/>
            <a:ext cx="3529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489704" y="4974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6281928" y="4974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29.7%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79976" y="5394960"/>
            <a:ext cx="3529584" cy="47548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489704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6281928" y="5486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8220456" y="804672"/>
            <a:ext cx="3749040" cy="580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0456" y="804672"/>
            <a:ext cx="3749040" cy="475488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385048" y="822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9683496" y="822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Reactivation Needed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8385048" y="133502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LOW-ACTIVITY AT-RISK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330184" y="1810512"/>
            <a:ext cx="3529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439912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10232136" y="19019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(20.9%)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330184" y="2322576"/>
            <a:ext cx="3529584" cy="47548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439912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10232136" y="24140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₹1,73,216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330184" y="2834640"/>
            <a:ext cx="3529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439912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10232136" y="2926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330184" y="3346704"/>
            <a:ext cx="3529584" cy="47548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439912" y="3438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10232136" y="34381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(480 days)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330184" y="3858768"/>
            <a:ext cx="3529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439912" y="3950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Frequency</a:t>
            </a:r>
            <a:endParaRPr 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10232136" y="3950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orders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8330184" y="4370832"/>
            <a:ext cx="3529584" cy="47548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8439912" y="4462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Monetary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10232136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₹837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8330184" y="4882896"/>
            <a:ext cx="35295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439912" y="4974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10232136" y="4974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26.3%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8330184" y="5394960"/>
            <a:ext cx="3529584" cy="47548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439912" y="5486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10232136" y="5486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7472" y="9144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CLUSTER PROFILING — RFM HEATMAP &amp; CHURN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6217920" cy="2743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29768" y="822960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RFM PROFILE BY CLUSTER (MinMax Scaled 0–1)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6217920" cy="384048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161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161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161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161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536192"/>
            <a:ext cx="6217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7007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HIGH VALUE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37360" y="1627632"/>
            <a:ext cx="1463040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737360" y="16824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1627632"/>
            <a:ext cx="1463040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429000" y="16824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74920" y="1627632"/>
            <a:ext cx="1280160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74920" y="16824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194560"/>
            <a:ext cx="6217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235915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MID TIER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737360" y="2286000"/>
            <a:ext cx="1463040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737360" y="23408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29000" y="2286000"/>
            <a:ext cx="1463040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23408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74920" y="2286000"/>
            <a:ext cx="1280160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74920" y="23408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2852928"/>
            <a:ext cx="6217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017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AT RISK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737360" y="2944368"/>
            <a:ext cx="1463040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737360" y="29992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429000" y="2944368"/>
            <a:ext cx="1463040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429000" y="29992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74920" y="2944368"/>
            <a:ext cx="1280160" cy="438912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074920" y="29992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629400" y="804672"/>
            <a:ext cx="5212080" cy="2743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39128" y="82296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CLUSTER (%)</a:t>
            </a:r>
            <a:endParaRPr lang="en-US" sz="9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6629400" y="1115568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Text 36"/>
          <p:cNvSpPr txBox="1"/>
          <p:nvPr/>
        </p:nvSpPr>
        <p:spPr>
          <a:xfrm>
            <a:off x="6629400" y="42245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nearly uniform across clusters (~27–30%)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indicating a systemic retention issue, not a segment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4279392"/>
            <a:ext cx="6217920" cy="2743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29768" y="4297680"/>
            <a:ext cx="6080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BY CLUSTER</a:t>
            </a:r>
            <a:endParaRPr lang="en-US" sz="900" dirty="0"/>
          </a:p>
        </p:txBody>
      </p:sp>
      <p:graphicFrame>
        <p:nvGraphicFramePr>
          <p:cNvPr id="42" name="Chart 1" descr=""/>
          <p:cNvGraphicFramePr/>
          <p:nvPr/>
        </p:nvGraphicFramePr>
        <p:xfrm>
          <a:off x="320040" y="4626864"/>
          <a:ext cx="62179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7472" y="9144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PCA VISUALISATION — CUSTOMER SEGMENTS IN 2D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1521440" cy="1261872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868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PCA?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17043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(PCA) reduces 3-dimensional scaled RFM space → 2D for visualisation, preserving maximum variance.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components explained 90.6% of total variance  (PC1: 67.3%  +  PC2: 23.3%)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4572000" cy="2743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" y="2212848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542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— 67.3%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4640" y="2578608"/>
            <a:ext cx="1230782" cy="201168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834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— 23.3%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34640" y="2871216"/>
            <a:ext cx="426110" cy="2011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— 90.6%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34640" y="3163824"/>
            <a:ext cx="1656893" cy="201168"/>
          </a:xfrm>
          <a:prstGeom prst="rect">
            <a:avLst/>
          </a:prstGeom>
          <a:solidFill>
            <a:srgbClr val="E9A832"/>
          </a:solidFill>
          <a:ln/>
        </p:spPr>
      </p:sp>
      <p:sp>
        <p:nvSpPr>
          <p:cNvPr id="17" name="Shape 15"/>
          <p:cNvSpPr/>
          <p:nvPr/>
        </p:nvSpPr>
        <p:spPr>
          <a:xfrm>
            <a:off x="5623560" y="2194560"/>
            <a:ext cx="6492240" cy="274320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33288" y="2212848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SCATTER PLOT — CUSTOMER SEGMENTS</a:t>
            </a:r>
            <a:endParaRPr lang="en-US" sz="9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623560" y="2560320"/>
          <a:ext cx="62179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411480" y="3593592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76072" y="354787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(High Value) occupies the top-left: low recency days, high frequency and monetary.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4096512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76072" y="40507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(At Risk) sits in the bottom-right: high recency days, low activity and spend.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11480" y="4599432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76072" y="455371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(Mid Tier) fills the centre — transitional customers with moderate engagement.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1480" y="5102352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76072" y="505663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clusters are reasonably separated in PCA space, validating k=3 as a good choice.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7472" y="91440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CONCLUSIONS &amp; MARKETING STRATEGY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2743200" cy="54864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804672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804672"/>
            <a:ext cx="27432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47288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0.358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804672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08776" y="804672"/>
            <a:ext cx="2743200" cy="54864"/>
          </a:xfrm>
          <a:prstGeom prst="rect">
            <a:avLst/>
          </a:prstGeom>
          <a:solidFill>
            <a:srgbClr val="E9A8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91656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391656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Variance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53144" y="804672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53144" y="804672"/>
            <a:ext cx="2743200" cy="54864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36024" y="1005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₹2,825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9336024" y="15179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CLV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176272"/>
            <a:ext cx="37490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176272"/>
            <a:ext cx="3749040" cy="438912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22128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– High Value Loyalists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" y="27066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customers | 52.1% revenue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" y="3035808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" y="2999232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premium loyalty programme — reward points, early access to new products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" y="3785616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9224" y="374904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premium Electronics SKUs and exclusive bundles to maximise CLV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" y="4535424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" y="4498848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personalised "Thank You" campaigns; assign dedicated account managers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" y="5285232"/>
            <a:ext cx="91440" cy="91440"/>
          </a:xfrm>
          <a:prstGeom prst="ellipse">
            <a:avLst/>
          </a:prstGeom>
          <a:solidFill>
            <a:srgbClr val="3D56A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9224" y="524865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for referral programme — high NPS potential to bring new customers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70248" y="2176272"/>
            <a:ext cx="37490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0248" y="2176272"/>
            <a:ext cx="3749040" cy="43891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407408" y="22128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– Mid-Tier Regulars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434840" y="27066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 customers | 36.5% revenue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34840" y="3035808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99432" y="2999232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promotions and limited-time offers to increase purchase frequency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3785616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599432" y="374904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Clothing and Home &amp; Kitchen to add category breadth to their basket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34840" y="4535424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599432" y="4498848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"upgrade path" messaging: "You're 2 orders away from Gold status"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34840" y="5285232"/>
            <a:ext cx="91440" cy="914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599432" y="524865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growth driver — converting 15% to Cluster 0 would add ₹1.8L in revenue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20456" y="2176272"/>
            <a:ext cx="37490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0456" y="2176272"/>
            <a:ext cx="3749040" cy="438912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357616" y="22128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– Low Activity / At Risk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385048" y="27066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customers | 11.3% revenue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385048" y="3035808"/>
            <a:ext cx="91440" cy="9144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549640" y="2999232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email sequence: "We miss you" + discount code (10–15% off)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85048" y="3785616"/>
            <a:ext cx="91440" cy="9144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549640" y="374904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churn predictors via logistic regression on this segment specifically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385048" y="4535424"/>
            <a:ext cx="91440" cy="9144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549640" y="4498848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lower barrier re-entry: flash sales on Beauty / Books (lower price items)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385048" y="5285232"/>
            <a:ext cx="91440" cy="9144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549640" y="524865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response after 3 campaigns — move to passive monitoring; stop paid spend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0040" y="6473952"/>
            <a:ext cx="11521440" cy="292608"/>
          </a:xfrm>
          <a:prstGeom prst="rect">
            <a:avLst/>
          </a:prstGeom>
          <a:solidFill>
            <a:srgbClr val="EEF1F7"/>
          </a:solidFill>
          <a:ln w="12700">
            <a:solidFill>
              <a:srgbClr val="D8DCE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02920" y="651967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Roadmap: Build CLV prediction model  ·  Add RFM scoring dashboard  ·  Implement A/B test per cluster  ·  Track silhouette monthly as new data arrives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61520" cy="54864"/>
          </a:xfrm>
          <a:prstGeom prst="rect">
            <a:avLst/>
          </a:prstGeom>
          <a:solidFill>
            <a:srgbClr val="3D56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71600" y="1371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1488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7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Analysis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9923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Complete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37360" y="3703320"/>
            <a:ext cx="1920240" cy="1051560"/>
          </a:xfrm>
          <a:prstGeom prst="rect">
            <a:avLst/>
          </a:prstGeom>
          <a:solidFill>
            <a:srgbClr val="263659"/>
          </a:solidFill>
          <a:ln w="12700">
            <a:solidFill>
              <a:srgbClr val="3D56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3736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989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23360" y="3703320"/>
            <a:ext cx="1920240" cy="1051560"/>
          </a:xfrm>
          <a:prstGeom prst="rect">
            <a:avLst/>
          </a:prstGeom>
          <a:solidFill>
            <a:srgbClr val="263659"/>
          </a:solidFill>
          <a:ln w="12700">
            <a:solidFill>
              <a:srgbClr val="3D5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3703320"/>
            <a:ext cx="1920240" cy="1051560"/>
          </a:xfrm>
          <a:prstGeom prst="rect">
            <a:avLst/>
          </a:prstGeom>
          <a:solidFill>
            <a:srgbClr val="263659"/>
          </a:solidFill>
          <a:ln w="12700">
            <a:solidFill>
              <a:srgbClr val="3D56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0.358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95360" y="3703320"/>
            <a:ext cx="1920240" cy="1051560"/>
          </a:xfrm>
          <a:prstGeom prst="rect">
            <a:avLst/>
          </a:prstGeom>
          <a:solidFill>
            <a:srgbClr val="263659"/>
          </a:solidFill>
          <a:ln w="12700">
            <a:solidFill>
              <a:srgbClr val="3D5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95360" y="3794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43159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Var.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· Pandas · Scikit-learn · KMeans · PCA · StandardScaler  |  Notebook: Task_2.ipynb  |  Data Analytics Division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2026-09-08T00:27:49Z</dcterms:created>
  <dcterms:modified xsi:type="dcterms:W3CDTF">2026-09-08T00:27:49Z</dcterms:modified>
</cp:coreProperties>
</file>